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71" r:id="rId6"/>
    <p:sldId id="270" r:id="rId7"/>
    <p:sldId id="261" r:id="rId8"/>
    <p:sldId id="262" r:id="rId9"/>
    <p:sldId id="272" r:id="rId10"/>
    <p:sldId id="263" r:id="rId11"/>
    <p:sldId id="264" r:id="rId12"/>
    <p:sldId id="265" r:id="rId13"/>
    <p:sldId id="274" r:id="rId14"/>
    <p:sldId id="266" r:id="rId15"/>
    <p:sldId id="275" r:id="rId16"/>
    <p:sldId id="273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263"/>
    <p:restoredTop sz="94688"/>
  </p:normalViewPr>
  <p:slideViewPr>
    <p:cSldViewPr snapToGrid="0">
      <p:cViewPr varScale="1">
        <p:scale>
          <a:sx n="106" d="100"/>
          <a:sy n="106" d="100"/>
        </p:scale>
        <p:origin x="216" y="3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E32E3D-88B8-914D-B0EF-C00FAF93D4B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AEEE3D-2639-EE48-8E5D-C0695419C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174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AEEE3D-2639-EE48-8E5D-C0695419C6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48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AEEE3D-2639-EE48-8E5D-C0695419C6D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78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AEEE3D-2639-EE48-8E5D-C0695419C6D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61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AEEE3D-2639-EE48-8E5D-C0695419C6D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36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1D367-B3F0-8A27-0FA9-EC1220DC0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D5AB3-788B-D97C-473B-3F1F12A3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6436B-0E4D-2DC8-9650-716B5F6C2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D32F-0747-7448-A239-63FBBE471EC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58A8-8C8E-6F44-6FBA-747D063DC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F78B0-CDCF-B04F-107E-2FE06ACC0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2E0C-4B6C-3541-AE95-71B9EDE4F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39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5D57D-8173-1576-23F3-2E052AA93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08052-0017-00EB-DB9D-B6D7312C8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89697-4A63-E37F-CD2C-B1AEDEB53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D32F-0747-7448-A239-63FBBE471EC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792C9-B386-5708-ACED-87F4E5AA1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63D6E-C9B7-BF5B-A1DB-4A81A0F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2E0C-4B6C-3541-AE95-71B9EDE4F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759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4872B-9F1A-4171-33D1-941F08E13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59439-41E4-72D3-8715-58A738463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61399-A7A6-63B2-A2A7-90B2C19B8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D32F-0747-7448-A239-63FBBE471EC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9417E-91C1-0CF0-BBF3-EBE6BE96E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7C149-C627-C29C-1BD4-C0BBBAC9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2E0C-4B6C-3541-AE95-71B9EDE4F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9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49B4F-87DC-6788-A140-54A27B231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87170-AEAE-4174-9DB8-728562F84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6AD99-F9A3-C860-147B-FDC8A945F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B70A8-FB02-6698-E3F0-4C73026FB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D32F-0747-7448-A239-63FBBE471EC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A7E82-9BED-31A5-9C98-224C7B8FB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2FB88-6A7C-5FF9-8F1E-2F5F160A0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2E0C-4B6C-3541-AE95-71B9EDE4F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88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AD942-3F2D-76A7-89A0-077F115FB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CAC34-E32B-8454-67A6-421C60D79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12E50-1A23-0937-37C8-CE8D7042B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C2304E-78A4-1564-297A-35BFCB493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07869A-B93A-1BD4-2992-3174A9C533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2F0E3D-185C-74C7-3502-6E690692B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D32F-0747-7448-A239-63FBBE471EC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12A93A-A2AC-C3E6-C651-E2B538CA7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77679C-64BB-5C01-8AB4-501FC0583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2E0C-4B6C-3541-AE95-71B9EDE4F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23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41B5-9017-AFA2-600F-30852BFEE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342D51-E6FE-7D4E-CB53-AA810CDAA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D32F-0747-7448-A239-63FBBE471EC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6D32F8-273F-AC29-A96B-08487C356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48C73F-577D-B86E-430F-0FF9AD2D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2E0C-4B6C-3541-AE95-71B9EDE4F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564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7A8BBA-471B-7D9E-E449-638C7AA59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D32F-0747-7448-A239-63FBBE471EC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9BCB4-4A5B-E015-66D8-AF581202B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073B2-C72B-AC96-1D6E-B5C23F80E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2E0C-4B6C-3541-AE95-71B9EDE4F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03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5DEEA-62D6-0907-1EC1-57D54CACC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3C902-B988-C4CF-2A12-1E2C9F42B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B54AB-2898-0E56-9F05-03DBC427A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9ECD3-08EB-377B-C15B-BE5AFA710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D32F-0747-7448-A239-63FBBE471EC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E9A08-D5A8-C52E-1CA7-904D275D9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B92BD-5B77-6442-45D5-624692A4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2E0C-4B6C-3541-AE95-71B9EDE4F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241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98F89-5EEE-5B06-E532-DAC4EAFBD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48D986-2839-6DF5-8C58-84F7BC8841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04B0B-5FA8-880E-30D9-74B6308A43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49438-40DF-5F98-EF34-B23845835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D32F-0747-7448-A239-63FBBE471EC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6AFBA-D881-FB87-30AA-09D65E86A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73F3E-A294-C4BE-0B2C-C5B535CF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2E0C-4B6C-3541-AE95-71B9EDE4F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222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0FFE2-C294-EA63-41DD-945AB96EF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91D40-1377-9322-6C56-F99E01AD2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D76A7-5217-D15B-5A40-2EC5D5A46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D32F-0747-7448-A239-63FBBE471EC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73AB1-D663-9C61-432D-06CB48403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202D2-66F4-DE0F-A513-537E531A8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2E0C-4B6C-3541-AE95-71B9EDE4F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74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ABC7E8-0489-7546-C970-70A64C144E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D1849-8C79-DDBB-0D18-8049209C6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2583B-3360-1B69-2EC4-8B996149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D32F-0747-7448-A239-63FBBE471EC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D124B-14AB-1C49-6317-B60D712E8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EA413-9C0B-3D48-D93B-3ED839E96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2E0C-4B6C-3541-AE95-71B9EDE4F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06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685126-4CCF-2594-60D7-81AE9A2D3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FA3CA-9F04-2CFB-3296-381D43692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349ED-CE6A-6902-13A0-1D9B29F04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6D32F-0747-7448-A239-63FBBE471EC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A4256-68C8-3FE7-722A-225272CE2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C6D61-E979-97D2-FF61-CBF48E7FB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B42E0C-4B6C-3541-AE95-71B9EDE4F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72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0EC01-2779-6AEA-8211-618CBE82C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1737"/>
            <a:ext cx="9144000" cy="9144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Tutorial Week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29668-4D7C-FBD5-5FD7-43478C8409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23945"/>
            <a:ext cx="9538010" cy="4042318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ACID --- Isolation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 transactions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 transactions</a:t>
            </a:r>
          </a:p>
        </p:txBody>
      </p:sp>
    </p:spTree>
    <p:extLst>
      <p:ext uri="{BB962C8B-B14F-4D97-AF65-F5344CB8AC3E}">
        <p14:creationId xmlns:p14="http://schemas.microsoft.com/office/powerpoint/2010/main" val="2494664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E60F0-04D9-AE13-2D71-84DBF3E02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BABB16-7535-55AB-B319-3C17C00C5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167974"/>
            <a:ext cx="10515600" cy="522051"/>
          </a:xfrm>
        </p:spPr>
      </p:pic>
    </p:spTree>
    <p:extLst>
      <p:ext uri="{BB962C8B-B14F-4D97-AF65-F5344CB8AC3E}">
        <p14:creationId xmlns:p14="http://schemas.microsoft.com/office/powerpoint/2010/main" val="1798367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A7307-9A9A-BA01-D2BB-9A1E75149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shopping platform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Customer A and B add the item to their cart and proceed to checkout closely.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When A is checking out, B still sees the item as available, which may lead to overselling.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isolation (All-or-Nothing Visibility / preventing overselling):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3E5B4D-34EB-B364-F6D6-3CF5F4B19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  <p:pic>
        <p:nvPicPr>
          <p:cNvPr id="8" name="Picture 7" descr="A white text with black text&#10;&#10;Description automatically generated">
            <a:extLst>
              <a:ext uri="{FF2B5EF4-FFF2-40B4-BE49-F238E27FC236}">
                <a16:creationId xmlns:a16="http://schemas.microsoft.com/office/drawing/2014/main" id="{47F94123-63DA-E811-1509-7F1BD3CD1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83" y="4101798"/>
            <a:ext cx="8299174" cy="250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8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B400F-6E74-5922-EC98-404C35DD9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27007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626B9-631A-83C9-0AF3-62B28EFEF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2132"/>
            <a:ext cx="10515600" cy="458483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banking system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isolation: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</p:txBody>
      </p:sp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B00FAA23-65F2-BA1A-B985-EBD7851C4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084" y="2157347"/>
            <a:ext cx="7747000" cy="172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1D8218-2E85-5CB2-A6EA-F3B9AFBC4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084" y="4449762"/>
            <a:ext cx="8404076" cy="99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066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CEF7BCE-1B4F-0248-6E98-ED6B03C9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27007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  <a:endParaRPr lang="en-US" dirty="0"/>
          </a:p>
        </p:txBody>
      </p:sp>
      <p:pic>
        <p:nvPicPr>
          <p:cNvPr id="6" name="Picture 5" descr="A close-up of a text&#10;&#10;AI-generated content may be incorrect.">
            <a:extLst>
              <a:ext uri="{FF2B5EF4-FFF2-40B4-BE49-F238E27FC236}">
                <a16:creationId xmlns:a16="http://schemas.microsoft.com/office/drawing/2014/main" id="{EDFE6032-EC4E-E22D-3085-62B8E241C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35" y="1592132"/>
            <a:ext cx="11655730" cy="282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022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7CD7-EF70-E5EF-F969-BDE5E8736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52ACA6-86BC-4AD4-B15B-221FE0FE06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613" y="1690688"/>
            <a:ext cx="11498774" cy="1738312"/>
          </a:xfrm>
        </p:spPr>
      </p:pic>
    </p:spTree>
    <p:extLst>
      <p:ext uri="{BB962C8B-B14F-4D97-AF65-F5344CB8AC3E}">
        <p14:creationId xmlns:p14="http://schemas.microsoft.com/office/powerpoint/2010/main" val="2690212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B8377-5E67-3667-B2E6-3B379FE30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Nested transaction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3C553-554B-150F-F702-903167EC2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2920"/>
            <a:ext cx="10515600" cy="459995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 cannot take place unless the parent itself commits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Sub-transactions have A, C, and I properties but not D property unless all their ancestors commit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 of a sub-transaction makes its results available only to its parents</a:t>
            </a:r>
          </a:p>
          <a:p>
            <a:pPr marL="457200" indent="-457200">
              <a:buAutoNum type="arabicPeriod" startAt="4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Parents should not modify objects while children are accessing them</a:t>
            </a:r>
          </a:p>
        </p:txBody>
      </p:sp>
    </p:spTree>
    <p:extLst>
      <p:ext uri="{BB962C8B-B14F-4D97-AF65-F5344CB8AC3E}">
        <p14:creationId xmlns:p14="http://schemas.microsoft.com/office/powerpoint/2010/main" val="3071709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616FF-B63A-8A80-725A-D8BE96B91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</a:p>
        </p:txBody>
      </p:sp>
      <p:pic>
        <p:nvPicPr>
          <p:cNvPr id="5" name="Content Placeholder 4" descr="A text on a white background&#10;&#10;Description automatically generated">
            <a:extLst>
              <a:ext uri="{FF2B5EF4-FFF2-40B4-BE49-F238E27FC236}">
                <a16:creationId xmlns:a16="http://schemas.microsoft.com/office/drawing/2014/main" id="{1F3AE7EA-7A92-C939-1D3E-07A13B344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837" y="1749805"/>
            <a:ext cx="11838325" cy="3358390"/>
          </a:xfrm>
        </p:spPr>
      </p:pic>
    </p:spTree>
    <p:extLst>
      <p:ext uri="{BB962C8B-B14F-4D97-AF65-F5344CB8AC3E}">
        <p14:creationId xmlns:p14="http://schemas.microsoft.com/office/powerpoint/2010/main" val="4047121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0DF78E-10A6-181F-92D7-D4542E30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127F1C-1997-901A-41E5-FFB758E1F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52" y="1690688"/>
            <a:ext cx="11184295" cy="42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59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27D1-01C0-1413-5654-91B7C8ADC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Processing Monitor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07668-B27F-453B-7384-30DD41F4F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1010"/>
            <a:ext cx="10515600" cy="44862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TPMs manage the transfer of data between clients and servers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breaks down applications or code into transactions and ensures that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databases are updated properly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takes appropriate actions (roll back / notification) if any error occurs</a:t>
            </a:r>
          </a:p>
        </p:txBody>
      </p:sp>
    </p:spTree>
    <p:extLst>
      <p:ext uri="{BB962C8B-B14F-4D97-AF65-F5344CB8AC3E}">
        <p14:creationId xmlns:p14="http://schemas.microsoft.com/office/powerpoint/2010/main" val="2469693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010EB-1E47-6806-B13D-3FD5DFB8F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C83E66-584D-D7EC-9A9F-19D9ED813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37" y="1690688"/>
            <a:ext cx="11033325" cy="3639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60F207-5FCA-00A6-11FB-DA47BF615DFD}"/>
              </a:ext>
            </a:extLst>
          </p:cNvPr>
          <p:cNvSpPr txBox="1"/>
          <p:nvPr/>
        </p:nvSpPr>
        <p:spPr>
          <a:xfrm>
            <a:off x="808383" y="2266122"/>
            <a:ext cx="1054541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error in a single process can affect all transactions being processed, leading to system disruptions. This could lead to poor performance as well as monitors of different transactions cannot be distributed either. </a:t>
            </a:r>
          </a:p>
          <a:p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this risk, it's essential to use redundancy, distributed architectures, and robust error-handling mechanisms to ensure system reliability and minimize the impact of errors.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76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301DC-2A89-0B52-5BAC-972CD596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5164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</a:p>
        </p:txBody>
      </p:sp>
      <p:pic>
        <p:nvPicPr>
          <p:cNvPr id="5" name="Content Placeholder 4" descr="A white paper with black text&#10;&#10;Description automatically generated">
            <a:extLst>
              <a:ext uri="{FF2B5EF4-FFF2-40B4-BE49-F238E27FC236}">
                <a16:creationId xmlns:a16="http://schemas.microsoft.com/office/drawing/2014/main" id="{5627CA51-B79A-E487-EEA9-5E222A3BD0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1088" y="1494529"/>
            <a:ext cx="10769823" cy="2682874"/>
          </a:xfrm>
        </p:spPr>
      </p:pic>
      <p:pic>
        <p:nvPicPr>
          <p:cNvPr id="7" name="Picture 6" descr="A white rectangle with black text&#10;&#10;Description automatically generated">
            <a:extLst>
              <a:ext uri="{FF2B5EF4-FFF2-40B4-BE49-F238E27FC236}">
                <a16:creationId xmlns:a16="http://schemas.microsoft.com/office/drawing/2014/main" id="{40099195-7BF9-E861-C3EB-FE75390AF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699" y="4449071"/>
            <a:ext cx="68326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C632C3-E88E-B853-05B4-9309E122F87A}"/>
              </a:ext>
            </a:extLst>
          </p:cNvPr>
          <p:cNvSpPr txBox="1"/>
          <p:nvPr/>
        </p:nvSpPr>
        <p:spPr>
          <a:xfrm>
            <a:off x="711088" y="4706216"/>
            <a:ext cx="2040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 transaction = </a:t>
            </a:r>
          </a:p>
        </p:txBody>
      </p:sp>
    </p:spTree>
    <p:extLst>
      <p:ext uri="{BB962C8B-B14F-4D97-AF65-F5344CB8AC3E}">
        <p14:creationId xmlns:p14="http://schemas.microsoft.com/office/powerpoint/2010/main" val="3093328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7F2FF3F-BCA2-E460-BCF5-866424FA6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5164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</a:p>
        </p:txBody>
      </p:sp>
      <p:pic>
        <p:nvPicPr>
          <p:cNvPr id="6" name="Picture 5" descr="A screenshot of a document&#10;&#10;AI-generated content may be incorrect.">
            <a:extLst>
              <a:ext uri="{FF2B5EF4-FFF2-40B4-BE49-F238E27FC236}">
                <a16:creationId xmlns:a16="http://schemas.microsoft.com/office/drawing/2014/main" id="{F207B0C0-ABF7-E4AF-6A8C-C8DB6265C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19" y="1616766"/>
            <a:ext cx="11022562" cy="457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0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091E0-0341-D400-C608-D729B8160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3A7162-DCC4-3397-0F02-A8196A3C8A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545" y="1690688"/>
            <a:ext cx="11222909" cy="1072632"/>
          </a:xfrm>
        </p:spPr>
      </p:pic>
      <p:pic>
        <p:nvPicPr>
          <p:cNvPr id="4" name="Picture 3" descr="A screenshot of a group of people&#10;&#10;AI-generated content may be incorrect.">
            <a:extLst>
              <a:ext uri="{FF2B5EF4-FFF2-40B4-BE49-F238E27FC236}">
                <a16:creationId xmlns:a16="http://schemas.microsoft.com/office/drawing/2014/main" id="{C7184B8C-DAA4-61FD-C07A-7F902F9F0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81289"/>
            <a:ext cx="6121400" cy="1841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DC3AD0-B37D-6E53-D791-97A46E5DD39A}"/>
              </a:ext>
            </a:extLst>
          </p:cNvPr>
          <p:cNvSpPr txBox="1"/>
          <p:nvPr/>
        </p:nvSpPr>
        <p:spPr>
          <a:xfrm>
            <a:off x="6959600" y="2763320"/>
            <a:ext cx="514602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singleton select: use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department_id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row is returned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simple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for single-row operations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cursor: use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department_id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multiple rows, one at a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loop through all matching rows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efficiency for large database</a:t>
            </a:r>
          </a:p>
        </p:txBody>
      </p:sp>
    </p:spTree>
    <p:extLst>
      <p:ext uri="{BB962C8B-B14F-4D97-AF65-F5344CB8AC3E}">
        <p14:creationId xmlns:p14="http://schemas.microsoft.com/office/powerpoint/2010/main" val="638881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0931C-807B-92D3-C1E9-CE759FF8B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715B5-C464-A383-BC1E-98C3E8E22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0D71C1-8EBD-F987-1766-F397EFDE31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545" y="1690688"/>
            <a:ext cx="11222909" cy="1072632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B8E98E-0C61-6780-0E62-5CCE3552F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57" y="3003032"/>
            <a:ext cx="6057900" cy="749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001E41-26E0-FB5E-1DC4-B4D4B2D4B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57" y="3847583"/>
            <a:ext cx="6096000" cy="482600"/>
          </a:xfrm>
          <a:prstGeom prst="rect">
            <a:avLst/>
          </a:prstGeom>
        </p:spPr>
      </p:pic>
      <p:pic>
        <p:nvPicPr>
          <p:cNvPr id="12" name="Picture 1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E69FDFE-2201-D5FE-B8B3-5ADA879F35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4251" y="2763320"/>
            <a:ext cx="4693203" cy="390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832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BA1F96-9610-997A-9407-D346E75A8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6</a:t>
            </a:r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532937-7284-DA7A-547E-6D3454A8C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71" y="1690688"/>
            <a:ext cx="10618057" cy="451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787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62A9-A71B-0031-DCBA-804D9221E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6</a:t>
            </a:r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5687C3-8D35-5277-6D72-24A145660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136" y="1690688"/>
            <a:ext cx="9463728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475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8E9EC-E41C-7DC0-5D8E-6AB225613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7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590C8F-CAA7-98D5-484D-0CF52CF00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723076" cy="756478"/>
          </a:xfrm>
        </p:spPr>
      </p:pic>
      <p:pic>
        <p:nvPicPr>
          <p:cNvPr id="7" name="Picture 6" descr="A white grid with red dots&#10;&#10;Description automatically generated">
            <a:extLst>
              <a:ext uri="{FF2B5EF4-FFF2-40B4-BE49-F238E27FC236}">
                <a16:creationId xmlns:a16="http://schemas.microsoft.com/office/drawing/2014/main" id="{3293C901-A489-0075-9AB7-2ECA5BD54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604" y="2469530"/>
            <a:ext cx="3934791" cy="351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76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AFAB6-D508-8C76-BA1E-2D43E0603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7</a:t>
            </a:r>
            <a:endParaRPr lang="en-US" dirty="0"/>
          </a:p>
        </p:txBody>
      </p:sp>
      <p:pic>
        <p:nvPicPr>
          <p:cNvPr id="5" name="Content Placeholder 4" descr="A grid with red dots and green lines&#10;&#10;Description automatically generated">
            <a:extLst>
              <a:ext uri="{FF2B5EF4-FFF2-40B4-BE49-F238E27FC236}">
                <a16:creationId xmlns:a16="http://schemas.microsoft.com/office/drawing/2014/main" id="{921CA33A-6560-54F9-7BFC-F30DF3C4D0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52005" y="1690688"/>
            <a:ext cx="4687990" cy="4193278"/>
          </a:xfrm>
        </p:spPr>
      </p:pic>
    </p:spTree>
    <p:extLst>
      <p:ext uri="{BB962C8B-B14F-4D97-AF65-F5344CB8AC3E}">
        <p14:creationId xmlns:p14="http://schemas.microsoft.com/office/powerpoint/2010/main" val="2581493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314</Words>
  <Application>Microsoft Macintosh PowerPoint</Application>
  <PresentationFormat>Widescreen</PresentationFormat>
  <Paragraphs>63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Times New Roman</vt:lpstr>
      <vt:lpstr>Office Theme</vt:lpstr>
      <vt:lpstr>Tutorial Week 6</vt:lpstr>
      <vt:lpstr>Question 1</vt:lpstr>
      <vt:lpstr>Question 1</vt:lpstr>
      <vt:lpstr>Question 1</vt:lpstr>
      <vt:lpstr>Question 1</vt:lpstr>
      <vt:lpstr>Question 2</vt:lpstr>
      <vt:lpstr>Nested transaction</vt:lpstr>
      <vt:lpstr>Question 2</vt:lpstr>
      <vt:lpstr>Question 3</vt:lpstr>
      <vt:lpstr>Transaction Processing Monitor</vt:lpstr>
      <vt:lpstr>Question 3</vt:lpstr>
      <vt:lpstr>Question 4</vt:lpstr>
      <vt:lpstr>Question 4</vt:lpstr>
      <vt:lpstr>Question 5</vt:lpstr>
      <vt:lpstr>Question 5</vt:lpstr>
      <vt:lpstr>Question 6</vt:lpstr>
      <vt:lpstr>Question 6</vt:lpstr>
      <vt:lpstr>Question 7</vt:lpstr>
      <vt:lpstr>Question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Qingtan Shen</dc:creator>
  <cp:lastModifiedBy>Qingtan Shen</cp:lastModifiedBy>
  <cp:revision>8</cp:revision>
  <dcterms:created xsi:type="dcterms:W3CDTF">2024-08-27T08:41:03Z</dcterms:created>
  <dcterms:modified xsi:type="dcterms:W3CDTF">2026-04-17T05:08:11Z</dcterms:modified>
</cp:coreProperties>
</file>