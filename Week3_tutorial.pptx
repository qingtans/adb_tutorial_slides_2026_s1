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8" r:id="rId4"/>
    <p:sldId id="258" r:id="rId5"/>
    <p:sldId id="259" r:id="rId6"/>
    <p:sldId id="260" r:id="rId7"/>
    <p:sldId id="269" r:id="rId8"/>
    <p:sldId id="261" r:id="rId9"/>
    <p:sldId id="262" r:id="rId10"/>
    <p:sldId id="270" r:id="rId11"/>
    <p:sldId id="263" r:id="rId12"/>
    <p:sldId id="271" r:id="rId13"/>
    <p:sldId id="264" r:id="rId14"/>
    <p:sldId id="265" r:id="rId15"/>
    <p:sldId id="266" r:id="rId16"/>
    <p:sldId id="272" r:id="rId17"/>
    <p:sldId id="26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42"/>
    <p:restoredTop sz="94733"/>
  </p:normalViewPr>
  <p:slideViewPr>
    <p:cSldViewPr snapToGrid="0">
      <p:cViewPr varScale="1">
        <p:scale>
          <a:sx n="117" d="100"/>
          <a:sy n="117" d="100"/>
        </p:scale>
        <p:origin x="3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615C5-019E-AC04-6BBB-6B9130ADF4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D5667B-5F05-E2BE-9CF8-0E9EAFA4FB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247CF-75DE-130B-E482-8BBDE1738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DDD51-16D5-4B4A-9306-24CC54E1C272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5375FB-13A5-FD2C-6934-35AD9B05F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BC0776-A5FF-1DEB-8C0B-FE96389C5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EB6FF-411E-C547-BF25-8515F9136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819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DA465-9C56-F071-8F96-B5A8E6910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A4E79-5077-EC82-D3F8-8C184E8DB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EBF80B-043B-F42F-DA4F-C55E4D734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DDD51-16D5-4B4A-9306-24CC54E1C272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3EC1E-DF2F-FC2F-0CE8-FE34E2582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1F102-E52C-5700-B297-D4D1022F5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EB6FF-411E-C547-BF25-8515F9136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936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2C1D2-43C8-E293-DF57-7ACA1BA0C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F33514-8BBD-DC4C-09B1-FAEE38424A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9A2BE-54AB-3F28-45CA-F5301712A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DDD51-16D5-4B4A-9306-24CC54E1C272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1662D-26D8-0BFC-A2DD-685A44FC2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9D404-7174-D1C0-F68B-339B71EE3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EB6FF-411E-C547-BF25-8515F9136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534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9FF8B-E517-00A5-0F1F-1401C9C93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2CD36-1DC0-44FF-AE82-CBFC0601E2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1F7C77-4BA7-BACE-0313-CDE7C6B528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921346-FAD7-37A6-30F1-637F62990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DDD51-16D5-4B4A-9306-24CC54E1C272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7566F9-611A-0E9B-1E0B-146AD80FC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79A605-26A4-B30A-1471-1DD2159D7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EB6FF-411E-C547-BF25-8515F9136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000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0B56D-87F7-D64F-E9FA-5C2F244EE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08FE57-8E39-4045-615D-CAF5D8374C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E30914-0E22-0035-BA4B-3053638FFE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0BEF0C-FCA3-D63D-01E0-4FB25C758B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0CAFAF-A2CF-9029-7044-14B90310A3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5F968E-092D-7292-F7B9-C7BE5AC3B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DDD51-16D5-4B4A-9306-24CC54E1C272}" type="datetimeFigureOut">
              <a:rPr lang="en-US" smtClean="0"/>
              <a:t>3/17/26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A15201-A6A6-0548-A9B0-10723D085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541119-B0B9-235F-8590-2DCA41552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EB6FF-411E-C547-BF25-8515F9136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577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3B86A-8AA0-E61A-874C-DE68BEA2A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8B85C9-DF18-9536-EE5B-767FDFC8C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DDD51-16D5-4B4A-9306-24CC54E1C272}" type="datetimeFigureOut">
              <a:rPr lang="en-US" smtClean="0"/>
              <a:t>3/17/26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6A12A3-BB01-A07A-93B7-F4F16C715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F9D127-50A6-EF9E-CCA6-EA5A5E839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EB6FF-411E-C547-BF25-8515F9136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145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E1E419-F446-693F-A56A-1F19415EA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DDD51-16D5-4B4A-9306-24CC54E1C272}" type="datetimeFigureOut">
              <a:rPr lang="en-US" smtClean="0"/>
              <a:t>3/17/26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3E3530-3587-9ADC-4408-C53FC4E36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B90DBC-2B5B-9DF1-16D3-1F25A2321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EB6FF-411E-C547-BF25-8515F9136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73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2B94C-43B1-AE85-E6ED-809F726E1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9CBB2-4456-997A-3AED-33A883C8CA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C2267C-AE79-4D08-F07C-C8A5DCC955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5B9AAB-A6F7-3B9B-5483-AD9F1182C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DDD51-16D5-4B4A-9306-24CC54E1C272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33D6A9-204A-C8AC-101D-ECC7BDC96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B144B8-E6A1-003D-E79A-E3489DE00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EB6FF-411E-C547-BF25-8515F9136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042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06FC3-0BB6-45E0-6CAA-87CADAB31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3F554D-F626-9BE3-27EA-3CC795C22B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4E76A8-3A40-72D2-E0D7-B26A7BA100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CA1C27-E7C3-38DB-4E84-DDD5D8DF0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DDD51-16D5-4B4A-9306-24CC54E1C272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E5DD21-46BB-0806-D981-6FBD8587C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CA1E89-BFA4-4445-1E07-491040927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EB6FF-411E-C547-BF25-8515F9136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95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2B12D-9D6C-282D-6214-EA2BCEC5D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7FE510-83C9-60F3-01B9-5220F481AD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F5A1D-224D-251E-63A4-E194424E3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DDD51-16D5-4B4A-9306-24CC54E1C272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EADAE-ABF9-DC79-A82D-BCAFFC685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91C98E-AE0D-653E-87A0-81073AA85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EB6FF-411E-C547-BF25-8515F9136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118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4199A4-FB04-A76D-3F77-DE61456853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418906-C51E-93FC-91A9-4AEA71453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8229C8-9850-2376-4894-C6E3E0FCB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DDD51-16D5-4B4A-9306-24CC54E1C272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5828C7-F3CC-0F98-E751-0AECAC242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8F301-D603-B523-5389-532D61712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EB6FF-411E-C547-BF25-8515F9136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424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91030C-A97D-79FC-982C-0D9AD1D22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9BFCE7-DFF9-A851-FC64-DF8FF8238F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7A11C-461D-7FFD-55E1-FE83F030CF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5DDD51-16D5-4B4A-9306-24CC54E1C272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D2ACDC-732D-6BDC-0BE1-F5DC88743A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EAD704-8225-501F-5060-ED42085D85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EEB6FF-411E-C547-BF25-8515F9136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841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F1102-49F3-F784-3B33-6920004D26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33520"/>
            <a:ext cx="9144000" cy="776010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3 tutorial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92A0F6-57D2-F8D0-70DC-6052B2DFE7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08313"/>
            <a:ext cx="9144000" cy="3349487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Exercise 2 (query optimization plan / nested loop join)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github.com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/QINGTANS/ADB_tutorial_slides_2026_S1</a:t>
            </a:r>
          </a:p>
        </p:txBody>
      </p:sp>
    </p:spTree>
    <p:extLst>
      <p:ext uri="{BB962C8B-B14F-4D97-AF65-F5344CB8AC3E}">
        <p14:creationId xmlns:p14="http://schemas.microsoft.com/office/powerpoint/2010/main" val="4059307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08701-4CB5-D542-110E-86AFF9E90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1</a:t>
            </a:r>
          </a:p>
        </p:txBody>
      </p:sp>
      <p:pic>
        <p:nvPicPr>
          <p:cNvPr id="8" name="Content Placeholder 7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E8BFAEE2-DCC4-8786-DCCE-8E36AAA38D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3737" y="1690688"/>
            <a:ext cx="11144525" cy="4681614"/>
          </a:xfrm>
        </p:spPr>
      </p:pic>
    </p:spTree>
    <p:extLst>
      <p:ext uri="{BB962C8B-B14F-4D97-AF65-F5344CB8AC3E}">
        <p14:creationId xmlns:p14="http://schemas.microsoft.com/office/powerpoint/2010/main" val="873037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66353-9178-7BDF-29A7-634E7710F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8CC95-EF40-C590-38BC-457F79B3E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290B1-A2ED-AC4B-AD53-96041E667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785" y="1689210"/>
            <a:ext cx="11437883" cy="4486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optimization approaches: heuristic based / enumerating all plans / adaptive plans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heuristic based: Heuristic optimization transforms the query-tree by using a set of rules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that typically (but not in all cases) improve execution performance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enumerating all plans: get all query plans, evaluate the cost of each plan, choose the 			           cheapest one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plans: Wait for one/some parts of a plan to execute first, then choose the next best alternative (re-evaluate the cost of other parts)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blue and black text&#10;&#10;Description automatically generated">
            <a:extLst>
              <a:ext uri="{FF2B5EF4-FFF2-40B4-BE49-F238E27FC236}">
                <a16:creationId xmlns:a16="http://schemas.microsoft.com/office/drawing/2014/main" id="{04592B01-5986-1758-C35E-FEC3FD005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576" y="5426550"/>
            <a:ext cx="4406023" cy="143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137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0B786-BF80-C4C6-1FA3-E9EB7FA52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B5D66-7969-E1A8-059D-F7A54556C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heuristic based / enumerating all plans / adaptive plans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B2F978D9-F4D5-2E60-D335-FDF468052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27806"/>
            <a:ext cx="7344420" cy="1506019"/>
          </a:xfrm>
          <a:prstGeom prst="rect">
            <a:avLst/>
          </a:prstGeom>
        </p:spPr>
      </p:pic>
      <p:pic>
        <p:nvPicPr>
          <p:cNvPr id="7" name="Picture 6" descr="A table with numbers and letters&#10;&#10;Description automatically generated">
            <a:extLst>
              <a:ext uri="{FF2B5EF4-FFF2-40B4-BE49-F238E27FC236}">
                <a16:creationId xmlns:a16="http://schemas.microsoft.com/office/drawing/2014/main" id="{67EB3761-6262-90AD-B2D5-B051EDB02E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4052613"/>
            <a:ext cx="7814569" cy="2124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951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7D8E1-37C4-50FE-B601-2675A7B08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1</a:t>
            </a:r>
            <a:endParaRPr lang="en-US" dirty="0"/>
          </a:p>
        </p:txBody>
      </p:sp>
      <p:pic>
        <p:nvPicPr>
          <p:cNvPr id="5" name="Content Placeholder 4" descr="A close up of text&#10;&#10;Description automatically generated">
            <a:extLst>
              <a:ext uri="{FF2B5EF4-FFF2-40B4-BE49-F238E27FC236}">
                <a16:creationId xmlns:a16="http://schemas.microsoft.com/office/drawing/2014/main" id="{A4E67311-F6B1-2194-19B1-B977B56355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2424" y="1690688"/>
            <a:ext cx="10187152" cy="1252965"/>
          </a:xfr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6A2B134-426E-7DB8-31C0-B4F7E724AF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4524596"/>
              </p:ext>
            </p:extLst>
          </p:nvPr>
        </p:nvGraphicFramePr>
        <p:xfrm>
          <a:off x="2545255" y="3429000"/>
          <a:ext cx="7101490" cy="202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8423">
                  <a:extLst>
                    <a:ext uri="{9D8B030D-6E8A-4147-A177-3AD203B41FA5}">
                      <a16:colId xmlns:a16="http://schemas.microsoft.com/office/drawing/2014/main" val="546392815"/>
                    </a:ext>
                  </a:extLst>
                </a:gridCol>
                <a:gridCol w="5043067">
                  <a:extLst>
                    <a:ext uri="{9D8B030D-6E8A-4147-A177-3AD203B41FA5}">
                      <a16:colId xmlns:a16="http://schemas.microsoft.com/office/drawing/2014/main" val="24675802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Suitable conditions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0471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heuristic 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Useful for simpler cases / indexes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7953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enumerating 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Useful for </a:t>
                      </a:r>
                      <a:r>
                        <a:rPr lang="en-AU" dirty="0"/>
                        <a:t>complex queries or large tables where various strategies need to be considered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4590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adaptive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Useful </a:t>
                      </a:r>
                      <a:r>
                        <a:rPr lang="en-AU" dirty="0"/>
                        <a:t>when data distribution is uncertain, and dynamic adjustments can optimize performance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17077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314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18120-06AB-EB6A-4497-ECD8A5A2F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F61A078-CD45-E130-5128-4DD2A75B09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1070" y="1690688"/>
            <a:ext cx="11109860" cy="999503"/>
          </a:xfrm>
        </p:spPr>
      </p:pic>
    </p:spTree>
    <p:extLst>
      <p:ext uri="{BB962C8B-B14F-4D97-AF65-F5344CB8AC3E}">
        <p14:creationId xmlns:p14="http://schemas.microsoft.com/office/powerpoint/2010/main" val="1459389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123A1-238C-09AE-CCC7-B697AED53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437CE-7E52-D4DE-9AB2-01BAB7BD8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0646BB-B7DB-FEE4-1C36-D57ADDE9DB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1070" y="1690688"/>
            <a:ext cx="11109860" cy="999503"/>
          </a:xfrm>
        </p:spPr>
      </p:pic>
      <p:pic>
        <p:nvPicPr>
          <p:cNvPr id="12" name="Picture 11" descr="A screenshot of a computer&#10;&#10;Description automatically generated">
            <a:extLst>
              <a:ext uri="{FF2B5EF4-FFF2-40B4-BE49-F238E27FC236}">
                <a16:creationId xmlns:a16="http://schemas.microsoft.com/office/drawing/2014/main" id="{C776706C-FEC5-6CCF-B4A2-A44578C6F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6733" y="3032616"/>
            <a:ext cx="6158534" cy="157673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430CB41-2FB2-AB44-7D24-DB0D56D95F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766608"/>
            <a:ext cx="6808304" cy="276406"/>
          </a:xfrm>
          <a:prstGeom prst="rect">
            <a:avLst/>
          </a:prstGeom>
        </p:spPr>
      </p:pic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B33F9EAA-CC35-0EF1-F155-D3F89EE090C6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5200274"/>
          <a:ext cx="424880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4404">
                  <a:extLst>
                    <a:ext uri="{9D8B030D-6E8A-4147-A177-3AD203B41FA5}">
                      <a16:colId xmlns:a16="http://schemas.microsoft.com/office/drawing/2014/main" val="4070813527"/>
                    </a:ext>
                  </a:extLst>
                </a:gridCol>
                <a:gridCol w="2124404">
                  <a:extLst>
                    <a:ext uri="{9D8B030D-6E8A-4147-A177-3AD203B41FA5}">
                      <a16:colId xmlns:a16="http://schemas.microsoft.com/office/drawing/2014/main" val="2140475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T1.name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T1.age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0501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2126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6698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630790"/>
                  </a:ext>
                </a:extLst>
              </a:tr>
            </a:tbl>
          </a:graphicData>
        </a:graphic>
      </p:graphicFrame>
      <p:sp>
        <p:nvSpPr>
          <p:cNvPr id="18" name="Right Arrow 17">
            <a:extLst>
              <a:ext uri="{FF2B5EF4-FFF2-40B4-BE49-F238E27FC236}">
                <a16:creationId xmlns:a16="http://schemas.microsoft.com/office/drawing/2014/main" id="{2CA8E321-F70F-C2FF-8E44-D4EC4AF88852}"/>
              </a:ext>
            </a:extLst>
          </p:cNvPr>
          <p:cNvSpPr/>
          <p:nvPr/>
        </p:nvSpPr>
        <p:spPr>
          <a:xfrm>
            <a:off x="5202621" y="5847361"/>
            <a:ext cx="1208690" cy="1891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D808E902-A9CB-E510-2985-9D9FF6639C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7656555"/>
              </p:ext>
            </p:extLst>
          </p:nvPr>
        </p:nvGraphicFramePr>
        <p:xfrm>
          <a:off x="6526924" y="5167312"/>
          <a:ext cx="424880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4404">
                  <a:extLst>
                    <a:ext uri="{9D8B030D-6E8A-4147-A177-3AD203B41FA5}">
                      <a16:colId xmlns:a16="http://schemas.microsoft.com/office/drawing/2014/main" val="4070813527"/>
                    </a:ext>
                  </a:extLst>
                </a:gridCol>
                <a:gridCol w="2124404">
                  <a:extLst>
                    <a:ext uri="{9D8B030D-6E8A-4147-A177-3AD203B41FA5}">
                      <a16:colId xmlns:a16="http://schemas.microsoft.com/office/drawing/2014/main" val="2140475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T1.name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T1.age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0501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2126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6698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63079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82A79B5-E8F8-E5A7-1B98-998569D25861}"/>
              </a:ext>
            </a:extLst>
          </p:cNvPr>
          <p:cNvSpPr txBox="1"/>
          <p:nvPr/>
        </p:nvSpPr>
        <p:spPr>
          <a:xfrm>
            <a:off x="838200" y="264827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800" dirty="0">
                <a:solidFill>
                  <a:srgbClr val="388CD3"/>
                </a:solidFill>
                <a:effectLst/>
                <a:latin typeface="LMRoman10-Regular-Identity-H"/>
              </a:rPr>
              <a:t>After insertions and deletions, the statistics of a table may not be updated instantly.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67335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C6B94-5DD5-0ADD-A78A-4F387822D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2</a:t>
            </a:r>
            <a:endParaRPr lang="en-US" dirty="0"/>
          </a:p>
        </p:txBody>
      </p:sp>
      <p:pic>
        <p:nvPicPr>
          <p:cNvPr id="5" name="Content Placeholder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61914AC4-E6EE-6155-52F4-F0DAA13DD4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4607" y="1536371"/>
            <a:ext cx="10229193" cy="1326343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FC6F892-0A4A-20E7-8791-AE16516EFFB4}"/>
              </a:ext>
            </a:extLst>
          </p:cNvPr>
          <p:cNvSpPr txBox="1"/>
          <p:nvPr/>
        </p:nvSpPr>
        <p:spPr>
          <a:xfrm>
            <a:off x="1179443" y="5618922"/>
            <a:ext cx="96350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Question: After insertion and deletions, will the heuristic-based plan change?</a:t>
            </a:r>
          </a:p>
        </p:txBody>
      </p: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11F8DB19-7A2B-6749-BA4F-712E6AC85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6801" y="3053593"/>
            <a:ext cx="7658397" cy="1960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17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69F7E-AD46-2544-23D3-5DD5FC53F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3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6C43EB-55C3-DDC8-65C7-BFBACF9890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1214" y="1690688"/>
            <a:ext cx="11149571" cy="486456"/>
          </a:xfrm>
        </p:spPr>
      </p:pic>
    </p:spTree>
    <p:extLst>
      <p:ext uri="{BB962C8B-B14F-4D97-AF65-F5344CB8AC3E}">
        <p14:creationId xmlns:p14="http://schemas.microsoft.com/office/powerpoint/2010/main" val="1350327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CD171-E9BA-62FE-C7E9-B69F5650D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91DE5-CF9A-11EE-DC5A-C6233FC07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3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76896D-8D3D-1DE1-9603-E667720857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7"/>
            <a:ext cx="10633344" cy="46393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BBAFF0-78E2-E4CE-38DD-3EF7123E6D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616577"/>
            <a:ext cx="5854700" cy="584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E1E23CE-62ED-1EB3-B96B-85FC6B7EBA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696" y="3549274"/>
            <a:ext cx="9540110" cy="31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509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B55B4-12E0-B882-4AAA-6111D9E65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4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5F7ED7D-CD1C-9172-3EA4-A35F76ADE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50" y="1802493"/>
            <a:ext cx="9915979" cy="448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4898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29EFF-BF7D-0E85-C0D2-0D37FADC0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AB04A-1DFE-AB97-6DC1-C0FEC3249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4</a:t>
            </a:r>
          </a:p>
        </p:txBody>
      </p:sp>
      <p:pic>
        <p:nvPicPr>
          <p:cNvPr id="5" name="Content Placeholder 4" descr="A close-up of a text&#10;&#10;Description automatically generated">
            <a:extLst>
              <a:ext uri="{FF2B5EF4-FFF2-40B4-BE49-F238E27FC236}">
                <a16:creationId xmlns:a16="http://schemas.microsoft.com/office/drawing/2014/main" id="{8429E07D-B3EC-00FE-B103-5B0B0859C8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7196" y="1488215"/>
            <a:ext cx="9237608" cy="178557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9421A9-B514-72FB-6A0C-EEFF413F09E4}"/>
              </a:ext>
            </a:extLst>
          </p:cNvPr>
          <p:cNvSpPr txBox="1"/>
          <p:nvPr/>
        </p:nvSpPr>
        <p:spPr>
          <a:xfrm>
            <a:off x="1450428" y="3468414"/>
            <a:ext cx="1473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Use index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26FAAC-7FB1-FF1F-23F0-9054CFCA02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7196" y="3868524"/>
            <a:ext cx="5930900" cy="533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DA29A6B-A2A5-2C0F-A5D6-68C99F988F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7196" y="4463260"/>
            <a:ext cx="5696606" cy="456222"/>
          </a:xfrm>
          <a:prstGeom prst="rect">
            <a:avLst/>
          </a:prstGeom>
        </p:spPr>
      </p:pic>
      <p:pic>
        <p:nvPicPr>
          <p:cNvPr id="12" name="Picture 11" descr="A group of names on a black background&#10;&#10;Description automatically generated">
            <a:extLst>
              <a:ext uri="{FF2B5EF4-FFF2-40B4-BE49-F238E27FC236}">
                <a16:creationId xmlns:a16="http://schemas.microsoft.com/office/drawing/2014/main" id="{C787F164-52F5-CAE2-D22D-DE75F07651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7196" y="5369785"/>
            <a:ext cx="3683000" cy="14351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8240040-CE76-2577-44A9-2EFB3B197507}"/>
              </a:ext>
            </a:extLst>
          </p:cNvPr>
          <p:cNvSpPr txBox="1"/>
          <p:nvPr/>
        </p:nvSpPr>
        <p:spPr>
          <a:xfrm>
            <a:off x="1450428" y="4996660"/>
            <a:ext cx="10951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27BCF557-C874-FB8B-3CCA-C2F04B6248FD}"/>
              </a:ext>
            </a:extLst>
          </p:cNvPr>
          <p:cNvSpPr/>
          <p:nvPr/>
        </p:nvSpPr>
        <p:spPr>
          <a:xfrm>
            <a:off x="5297215" y="5992742"/>
            <a:ext cx="1208690" cy="1891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screenshot of a computer&#10;&#10;Description automatically generated">
            <a:extLst>
              <a:ext uri="{FF2B5EF4-FFF2-40B4-BE49-F238E27FC236}">
                <a16:creationId xmlns:a16="http://schemas.microsoft.com/office/drawing/2014/main" id="{23EA0DDB-0608-BC91-48FC-A9D289CF70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6295" y="4996660"/>
            <a:ext cx="2787601" cy="186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5543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94A9E-740E-74F8-287F-CB1B64E48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4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9776B-3008-D19A-7F8F-6C3454068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Force a query plan instead of chosen by the optimizer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Enforce statistic recompilation: discussed in Q2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AU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Rewrite query with parameters for execution plan reuse</a:t>
            </a:r>
          </a:p>
          <a:p>
            <a:pPr marL="0" indent="0">
              <a:buNone/>
            </a:pPr>
            <a:br>
              <a:rPr lang="en-AU" sz="1800" dirty="0">
                <a:solidFill>
                  <a:srgbClr val="388CD3"/>
                </a:solidFill>
                <a:effectLst/>
                <a:latin typeface="LMRoman10-Regular-Identity-H"/>
              </a:rPr>
            </a:br>
            <a:endParaRPr lang="en-AU" sz="1400" dirty="0"/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black screen with white text&#10;&#10;Description automatically generated">
            <a:extLst>
              <a:ext uri="{FF2B5EF4-FFF2-40B4-BE49-F238E27FC236}">
                <a16:creationId xmlns:a16="http://schemas.microsoft.com/office/drawing/2014/main" id="{862C3A8A-F150-1B9F-7440-F9A8E3A47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469" y="2061122"/>
            <a:ext cx="5688724" cy="14470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9E9E75-719F-B044-FCEF-EF175CE47F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537403"/>
            <a:ext cx="5341883" cy="399174"/>
          </a:xfrm>
          <a:prstGeom prst="rect">
            <a:avLst/>
          </a:prstGeom>
        </p:spPr>
      </p:pic>
      <p:pic>
        <p:nvPicPr>
          <p:cNvPr id="9" name="Picture 8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8EEA323F-B6D0-9752-F276-F132425883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5025836"/>
            <a:ext cx="5341883" cy="116453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A3EFCAF-7639-EA35-DBC7-D387EAEBD2F7}"/>
              </a:ext>
            </a:extLst>
          </p:cNvPr>
          <p:cNvSpPr txBox="1"/>
          <p:nvPr/>
        </p:nvSpPr>
        <p:spPr>
          <a:xfrm>
            <a:off x="6390291" y="4936577"/>
            <a:ext cx="43828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parameters allows SQL Server to reuse execution plans, reducing overhead and improving performance.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7539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DE95C-3531-EC91-7742-EEA227105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4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DA06C-539F-478C-91B5-90BFFA56A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887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Store derived data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the need to perform aggregation calculations, improving query performance.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Use pre-joined tables 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the need to repeatedly perform joins, speeding up queries that require this information.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3567FE82-400C-FC2D-ABCC-4ECC35EA0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216619"/>
            <a:ext cx="5727700" cy="1409700"/>
          </a:xfrm>
          <a:prstGeom prst="rect">
            <a:avLst/>
          </a:prstGeom>
        </p:spPr>
      </p:pic>
      <p:pic>
        <p:nvPicPr>
          <p:cNvPr id="6" name="Picture 5" descr="A close-up of a word&#10;&#10;AI-generated content may be incorrect.">
            <a:extLst>
              <a:ext uri="{FF2B5EF4-FFF2-40B4-BE49-F238E27FC236}">
                <a16:creationId xmlns:a16="http://schemas.microsoft.com/office/drawing/2014/main" id="{A990760B-C598-FDAB-801E-5E5805097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09355"/>
            <a:ext cx="6300355" cy="101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2794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C2B67-7E2F-B36D-0554-5D975DE0A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5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7CE49E-F881-341C-B1F2-F02DCF033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069" y="1690688"/>
            <a:ext cx="11267862" cy="813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6085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8E0F8-544A-4EBB-3C64-71306B1E5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FE3F1-CD5A-F1F7-D163-9D974466D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68051-04BB-6CA9-776E-892EE1153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Simple Nested-Loop Join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AU" sz="1600" b="0" i="0" dirty="0">
              <a:effectLst/>
              <a:highlight>
                <a:srgbClr val="F2F2F2"/>
              </a:highlight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AU" sz="1600" b="0" i="0" dirty="0">
                <a:effectLst/>
                <a:highlight>
                  <a:srgbClr val="F2F2F2"/>
                </a:highlight>
                <a:latin typeface="Arial" panose="020B0604020202020204" pitchFamily="34" charset="0"/>
              </a:rPr>
              <a:t>r is called the outer relation and s is the inner relation of the join.</a:t>
            </a:r>
          </a:p>
          <a:p>
            <a:pPr marL="0" indent="0">
              <a:buNone/>
            </a:pPr>
            <a:r>
              <a:rPr lang="en-AU" sz="1600" b="0" i="0" dirty="0">
                <a:effectLst/>
                <a:highlight>
                  <a:srgbClr val="F2F2F2"/>
                </a:highlight>
                <a:latin typeface="Arial" panose="020B0604020202020204" pitchFamily="34" charset="0"/>
              </a:rPr>
              <a:t>Page access: </a:t>
            </a:r>
          </a:p>
          <a:p>
            <a:pPr marL="0" indent="0">
              <a:buNone/>
            </a:pPr>
            <a:r>
              <a:rPr lang="en-AU" sz="1600" dirty="0">
                <a:highlight>
                  <a:srgbClr val="F2F2F2"/>
                </a:highlight>
                <a:latin typeface="Arial" panose="020B0604020202020204" pitchFamily="34" charset="0"/>
              </a:rPr>
              <a:t>Seek time: </a:t>
            </a:r>
            <a:r>
              <a:rPr lang="en-AU" sz="1600" dirty="0" err="1">
                <a:highlight>
                  <a:srgbClr val="F2F2F2"/>
                </a:highlight>
                <a:latin typeface="Arial" panose="020B0604020202020204" pitchFamily="34" charset="0"/>
              </a:rPr>
              <a:t>br</a:t>
            </a:r>
            <a:r>
              <a:rPr lang="en-AU" sz="1600" dirty="0">
                <a:highlight>
                  <a:srgbClr val="F2F2F2"/>
                </a:highlight>
                <a:latin typeface="Arial" panose="020B0604020202020204" pitchFamily="34" charset="0"/>
              </a:rPr>
              <a:t> + nr</a:t>
            </a:r>
            <a:endParaRPr lang="en-AU" sz="1600" b="0" i="0" dirty="0">
              <a:effectLst/>
              <a:highlight>
                <a:srgbClr val="F2F2F2"/>
              </a:highlight>
              <a:latin typeface="Arial" panose="020B0604020202020204" pitchFamily="34" charset="0"/>
            </a:endParaRPr>
          </a:p>
        </p:txBody>
      </p:sp>
      <p:pic>
        <p:nvPicPr>
          <p:cNvPr id="5" name="Picture 4" descr="A white background with blue text&#10;&#10;Description automatically generated">
            <a:extLst>
              <a:ext uri="{FF2B5EF4-FFF2-40B4-BE49-F238E27FC236}">
                <a16:creationId xmlns:a16="http://schemas.microsoft.com/office/drawing/2014/main" id="{F5135437-5D0C-DDBA-7B6C-CA8F8045E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958" y="2122869"/>
            <a:ext cx="7727731" cy="20120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97D7066-6330-3218-C137-7D5BC7DDA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943" y="4698745"/>
            <a:ext cx="11557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7042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93285-54A9-1294-A8C3-77026C7CC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5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93266-D524-E0B6-3BC4-8A499FDA3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Page-Oriented Nested-Loop Join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FA441173-513C-29D3-AA2C-A610B4D22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551" y="2151837"/>
            <a:ext cx="4606159" cy="25543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AE99661-7257-F0A6-4B6A-6B818D0B80C2}"/>
              </a:ext>
            </a:extLst>
          </p:cNvPr>
          <p:cNvSpPr txBox="1"/>
          <p:nvPr/>
        </p:nvSpPr>
        <p:spPr>
          <a:xfrm>
            <a:off x="838200" y="4705646"/>
            <a:ext cx="18069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access: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E28448-D2E3-24CB-FEA5-082154352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5105" y="4790686"/>
            <a:ext cx="1441000" cy="3766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AE3CED2-2193-4E64-FE65-1B1E7FC7CB50}"/>
              </a:ext>
            </a:extLst>
          </p:cNvPr>
          <p:cNvSpPr txBox="1"/>
          <p:nvPr/>
        </p:nvSpPr>
        <p:spPr>
          <a:xfrm>
            <a:off x="838200" y="5184553"/>
            <a:ext cx="22076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Seek time:  2*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0338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1184</TotalTime>
  <Words>396</Words>
  <Application>Microsoft Macintosh PowerPoint</Application>
  <PresentationFormat>Widescreen</PresentationFormat>
  <Paragraphs>90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LMRoman10-Regular-Identity-H</vt:lpstr>
      <vt:lpstr>Aptos</vt:lpstr>
      <vt:lpstr>Aptos Display</vt:lpstr>
      <vt:lpstr>Arial</vt:lpstr>
      <vt:lpstr>Times New Roman</vt:lpstr>
      <vt:lpstr>Office Theme</vt:lpstr>
      <vt:lpstr>Week 3 tutorial</vt:lpstr>
      <vt:lpstr>Question 1</vt:lpstr>
      <vt:lpstr>Question 1</vt:lpstr>
      <vt:lpstr>Question 1</vt:lpstr>
      <vt:lpstr>Question 1</vt:lpstr>
      <vt:lpstr>Question 2</vt:lpstr>
      <vt:lpstr>Question 2</vt:lpstr>
      <vt:lpstr>Question 2</vt:lpstr>
      <vt:lpstr>Question 3</vt:lpstr>
      <vt:lpstr>Question 3</vt:lpstr>
      <vt:lpstr>Question 4</vt:lpstr>
      <vt:lpstr>Question 4</vt:lpstr>
      <vt:lpstr>Question 4</vt:lpstr>
      <vt:lpstr>Question 4</vt:lpstr>
      <vt:lpstr>Question 5</vt:lpstr>
      <vt:lpstr>Question 5</vt:lpstr>
      <vt:lpstr>Question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Qingtan Shen</dc:creator>
  <cp:lastModifiedBy>Qingtan Shen</cp:lastModifiedBy>
  <cp:revision>6</cp:revision>
  <dcterms:created xsi:type="dcterms:W3CDTF">2024-08-06T11:56:23Z</dcterms:created>
  <dcterms:modified xsi:type="dcterms:W3CDTF">2026-03-17T00:22:21Z</dcterms:modified>
</cp:coreProperties>
</file>