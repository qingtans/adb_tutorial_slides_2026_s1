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1" r:id="rId4"/>
    <p:sldId id="260" r:id="rId5"/>
    <p:sldId id="257" r:id="rId6"/>
    <p:sldId id="259" r:id="rId7"/>
    <p:sldId id="263" r:id="rId8"/>
    <p:sldId id="264" r:id="rId9"/>
    <p:sldId id="271" r:id="rId10"/>
    <p:sldId id="265" r:id="rId11"/>
    <p:sldId id="267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18"/>
    <p:restoredTop sz="94748"/>
  </p:normalViewPr>
  <p:slideViewPr>
    <p:cSldViewPr snapToGrid="0">
      <p:cViewPr varScale="1">
        <p:scale>
          <a:sx n="113" d="100"/>
          <a:sy n="113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4929-100F-7E07-DB68-871A6FF4C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8C598-CCB8-B2DE-8C23-C5B455E8F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DA11A-DA46-1626-13C5-8CC82E3E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B7BE-40FE-AD95-4003-D9003F06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9A47E-C403-0A3D-48DF-7E736217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4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DAEA-F559-5D2C-2571-EC416583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71BF7-15C2-D31A-A235-E9B89F2A4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4A92D-F736-99DB-55A7-4F12E456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31295-8381-2BCE-E074-3A0AE5A4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440E8-5D01-3F6F-BC59-A0B4B7B2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4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31A6-437A-8F5F-F479-2F679D62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ED6F5-AD05-F0EA-1F65-85F448078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35179-9EE9-6B9E-BD50-0F41C27E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4C35D-16DF-A05A-F28E-FBD1C854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170D2-C475-82FF-2FD4-282417F39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0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9501-0F70-58E2-09B4-1675E267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E83C-9F47-AAC0-7ED4-2958C3F1F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8DCFD-DB4E-43D2-B0BB-14B1E2A10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DD350-0FCB-D102-135C-F2B563EA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18CAE-5EE9-AE18-D9E7-B9A81D6E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7B2E1-15AA-F2A8-F7B5-80D59DB0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0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F044-0B2D-DF4A-F841-BDBD6C5E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4C55C-3E3B-2E22-BC28-D961C1C7F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1C014-7AD6-D689-138D-F03C9CBAB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5CA0B-90D1-7AE2-D8DC-BA0EBF53F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5A356-B1DB-CB40-1801-5B16BC87A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B8AA6-0BE4-ACCC-3ADD-E6173DFE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F3BA7-107C-3F64-A9EB-EB77D3C0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11C6F-0FF9-72AF-AF60-447D229D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2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0B18-7C5F-6DB9-6537-F0E05A69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F9202E-EF18-812E-77C3-B5C06FD7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5BF07-2442-8590-553C-2BAC58B1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7481C-DD99-50BC-511B-D279EEA2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5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C4674-7BDE-5CEA-77FC-36F0611F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47139-9407-316E-785E-5F7B9698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C1618-E2B8-685A-F69D-097AA1A0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0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FED1-73A1-93E5-782F-79F94E50A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ECE3B-9E0E-BC1A-C5F9-0FBCA84C4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23EC9-6A6B-889F-797C-90B812DA5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67FC6-1289-B171-5C04-1246AE47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2E703-84E0-7845-03B2-AA81B0A4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41D4D-AA31-6A1E-FDEC-04285B7D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2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EB9F-A976-7597-F001-5C34DA139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99791-D08A-C260-DC99-C86F1099A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90B2E-816C-74C5-CB06-603F261B1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DF3DC-AE29-B9FE-C0FF-D3BAD409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673D9-A1E2-4C96-B160-A9876AC7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00178-59B0-5D41-3745-109979DF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7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A329-70CF-EAFA-00CC-E4431BC1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B747F-B847-6C53-63BB-5B2EDA327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F197-014F-EA56-4F3F-64BD4D4E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EA1FA-9BAA-93FF-F630-C6C38416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0FE9A-2EB4-9B61-7120-971F1144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0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C81C6-D0FB-B78A-484A-D196778F7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3F169-4B81-56EA-9491-741A9838B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665E6-97AC-93C0-CD6D-A8CFC348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CA50F-0640-39F5-E333-470C54CF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06058-CB0F-03B8-5B84-206690F1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8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53946-67EF-2B9B-6404-A590478E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62A59-11CA-428B-90BB-C6D3856C5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AC66B-C37C-99B9-7C60-3EEC0BB64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61BF7-FE28-2243-B2F6-E7BD84253F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2895E-E8FA-5257-87A0-9EF32EC73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EA164-704E-B989-9839-A353EABDD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0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C923-412D-ACB9-E64D-DA9529882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6104"/>
            <a:ext cx="9144000" cy="101303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Week5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B430A-9D5F-382A-E29F-42822D520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44589"/>
            <a:ext cx="9144000" cy="407730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indexes, advantages / disadvantages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90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A2AA-717D-CA5E-143F-35A75DEC0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877C43-B311-0888-F9A9-75ECC2F12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30094"/>
          </a:xfrm>
        </p:spPr>
      </p:pic>
      <p:pic>
        <p:nvPicPr>
          <p:cNvPr id="9" name="Picture 8" descr="A table with numbers and numbers&#10;&#10;Description automatically generated">
            <a:extLst>
              <a:ext uri="{FF2B5EF4-FFF2-40B4-BE49-F238E27FC236}">
                <a16:creationId xmlns:a16="http://schemas.microsoft.com/office/drawing/2014/main" id="{F8294D9D-D711-1C01-323A-DC7562681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86" y="2579410"/>
            <a:ext cx="9381027" cy="307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2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C171-7449-80FB-6B14-86B0C2E25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Index</a:t>
            </a:r>
          </a:p>
        </p:txBody>
      </p:sp>
      <p:pic>
        <p:nvPicPr>
          <p:cNvPr id="5" name="Content Placeholder 4" descr="A diagram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3396E0D4-3B98-8B24-9B37-0EC3E241E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442" y="1690688"/>
            <a:ext cx="449955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7BD8A0-4487-0543-EEC9-FA4B815EB1B3}"/>
              </a:ext>
            </a:extLst>
          </p:cNvPr>
          <p:cNvSpPr txBox="1"/>
          <p:nvPr/>
        </p:nvSpPr>
        <p:spPr>
          <a:xfrm>
            <a:off x="6096000" y="2459504"/>
            <a:ext cx="6096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is not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indices are secondary indices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hash function: uniform / randomness</a:t>
            </a:r>
          </a:p>
        </p:txBody>
      </p:sp>
    </p:spTree>
    <p:extLst>
      <p:ext uri="{BB962C8B-B14F-4D97-AF65-F5344CB8AC3E}">
        <p14:creationId xmlns:p14="http://schemas.microsoft.com/office/powerpoint/2010/main" val="51953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8181-0779-B5B6-B429-4A924B8B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tree / B+ tree</a:t>
            </a:r>
          </a:p>
        </p:txBody>
      </p:sp>
      <p:pic>
        <p:nvPicPr>
          <p:cNvPr id="4" name="Content Placeholder 4" descr="A diagram of a tree&#10;&#10;Description automatically generated">
            <a:extLst>
              <a:ext uri="{FF2B5EF4-FFF2-40B4-BE49-F238E27FC236}">
                <a16:creationId xmlns:a16="http://schemas.microsoft.com/office/drawing/2014/main" id="{84FB0251-55F6-9092-B7AA-BE0966600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568687" cy="2311218"/>
          </a:xfrm>
        </p:spPr>
      </p:pic>
      <p:pic>
        <p:nvPicPr>
          <p:cNvPr id="5" name="Picture 4" descr="A diagram of a tree pointer&#10;&#10;Description automatically generated">
            <a:extLst>
              <a:ext uri="{FF2B5EF4-FFF2-40B4-BE49-F238E27FC236}">
                <a16:creationId xmlns:a16="http://schemas.microsoft.com/office/drawing/2014/main" id="{FF72E31E-42C0-C4D7-3A5B-3828E109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27421"/>
            <a:ext cx="5128592" cy="2774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D7903B-5CDB-7612-9325-8AC3EAAC90EC}"/>
              </a:ext>
            </a:extLst>
          </p:cNvPr>
          <p:cNvSpPr txBox="1"/>
          <p:nvPr/>
        </p:nvSpPr>
        <p:spPr>
          <a:xfrm>
            <a:off x="2839338" y="4197816"/>
            <a:ext cx="67361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B+ tree,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(pointers) are stored in leaf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duplicated keys and redundant keys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insertion and deletion (compare with B tree)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access is possible</a:t>
            </a:r>
          </a:p>
        </p:txBody>
      </p:sp>
    </p:spTree>
    <p:extLst>
      <p:ext uri="{BB962C8B-B14F-4D97-AF65-F5344CB8AC3E}">
        <p14:creationId xmlns:p14="http://schemas.microsoft.com/office/powerpoint/2010/main" val="421658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ABA6-6C76-2AC5-7C9A-28A8DD157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6210"/>
            <a:ext cx="10515600" cy="9172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Index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C05D7D-5681-AC49-A3AC-B9806B42E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4"/>
            <a:ext cx="10515600" cy="49980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index: ordered indices / hash indices</a:t>
            </a:r>
          </a:p>
          <a:p>
            <a:pPr marL="0" indent="0">
              <a:buNone/>
            </a:pPr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ordered indices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search keys are stored in some order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for range queries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Less efficient for equality searches. More complex for rebalancing during insertions and deletions.</a:t>
            </a:r>
          </a:p>
          <a:p>
            <a:pPr marL="0" indent="0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 indices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search keys are distributed (hopefully uniformly) across “buckets” using a “function”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for exact match queries due to direct hashing. 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efficient for range queries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513A-B141-74F0-D3D0-51671DDA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multiple indexes</a:t>
            </a:r>
            <a:endParaRPr lang="en-US" dirty="0"/>
          </a:p>
        </p:txBody>
      </p:sp>
      <p:pic>
        <p:nvPicPr>
          <p:cNvPr id="4" name="Content Placeholder 4" descr="A close up of black text&#10;&#10;Description automatically generated">
            <a:extLst>
              <a:ext uri="{FF2B5EF4-FFF2-40B4-BE49-F238E27FC236}">
                <a16:creationId xmlns:a16="http://schemas.microsoft.com/office/drawing/2014/main" id="{AF4AFDBE-DD4B-1348-D3E4-4C403E2A8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925" y="2176340"/>
            <a:ext cx="10566149" cy="2497033"/>
          </a:xfrm>
        </p:spPr>
      </p:pic>
    </p:spTree>
    <p:extLst>
      <p:ext uri="{BB962C8B-B14F-4D97-AF65-F5344CB8AC3E}">
        <p14:creationId xmlns:p14="http://schemas.microsoft.com/office/powerpoint/2010/main" val="178821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34AC-8AE0-B8F4-D2AA-0E27D03A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</a:p>
        </p:txBody>
      </p:sp>
      <p:pic>
        <p:nvPicPr>
          <p:cNvPr id="5" name="Content Placeholder 4" descr="A diagram of a volleyball game&#10;&#10;Description automatically generated">
            <a:extLst>
              <a:ext uri="{FF2B5EF4-FFF2-40B4-BE49-F238E27FC236}">
                <a16:creationId xmlns:a16="http://schemas.microsoft.com/office/drawing/2014/main" id="{E0F5F3EE-5D98-7DC5-D2C1-04EA3496E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05" y="1690688"/>
            <a:ext cx="5667495" cy="39547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2C3025-E35E-EF0C-8E28-6E8D12330321}"/>
              </a:ext>
            </a:extLst>
          </p:cNvPr>
          <p:cNvSpPr txBox="1"/>
          <p:nvPr/>
        </p:nvSpPr>
        <p:spPr>
          <a:xfrm>
            <a:off x="6204269" y="2413337"/>
            <a:ext cx="526939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non-leaf node divides its region into </a:t>
            </a:r>
          </a:p>
          <a:p>
            <a:r>
              <a:rPr lang="en-A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four equal-sized quadrants</a:t>
            </a:r>
          </a:p>
          <a:p>
            <a:endParaRPr lang="en-A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Leaf nodes have between zero and some fixed </a:t>
            </a:r>
          </a:p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A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aximum number of points </a:t>
            </a:r>
          </a:p>
          <a:p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to Nearest Neighbor Query</a:t>
            </a:r>
          </a:p>
        </p:txBody>
      </p:sp>
    </p:spTree>
    <p:extLst>
      <p:ext uri="{BB962C8B-B14F-4D97-AF65-F5344CB8AC3E}">
        <p14:creationId xmlns:p14="http://schemas.microsoft.com/office/powerpoint/2010/main" val="368087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66E-C373-1CFC-9CA0-81C6042B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622921-C1A2-36A3-4273-B14BD65BE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76269"/>
            <a:ext cx="10733103" cy="705462"/>
          </a:xfrm>
        </p:spPr>
      </p:pic>
    </p:spTree>
    <p:extLst>
      <p:ext uri="{BB962C8B-B14F-4D97-AF65-F5344CB8AC3E}">
        <p14:creationId xmlns:p14="http://schemas.microsoft.com/office/powerpoint/2010/main" val="88708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10EEB6-D7CD-2EE4-03D3-55F4E502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31D03-79C1-DD28-CD6F-482F53B02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62" y="1460500"/>
            <a:ext cx="8444476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32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8DD3-7691-8CF3-A823-36CF5173F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 descr="A white paper with black text and blue text&#10;&#10;Description automatically generated">
            <a:extLst>
              <a:ext uri="{FF2B5EF4-FFF2-40B4-BE49-F238E27FC236}">
                <a16:creationId xmlns:a16="http://schemas.microsoft.com/office/drawing/2014/main" id="{6ECAF6FC-9679-F869-0C44-68E785C5A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64" y="1690688"/>
            <a:ext cx="11827271" cy="3935896"/>
          </a:xfrm>
        </p:spPr>
      </p:pic>
    </p:spTree>
    <p:extLst>
      <p:ext uri="{BB962C8B-B14F-4D97-AF65-F5344CB8AC3E}">
        <p14:creationId xmlns:p14="http://schemas.microsoft.com/office/powerpoint/2010/main" val="869910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E156-8076-C4B1-4AB9-FACD5970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1188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6EDB41-3315-6F94-948B-93954689C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8" y="1577010"/>
            <a:ext cx="10473224" cy="394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7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3993-D043-C5FD-7F89-CDC62C95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Bitmap index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A66F2C-9C37-6524-165F-0BEB5BA4C545}"/>
              </a:ext>
            </a:extLst>
          </p:cNvPr>
          <p:cNvSpPr txBox="1"/>
          <p:nvPr/>
        </p:nvSpPr>
        <p:spPr>
          <a:xfrm>
            <a:off x="612766" y="1507454"/>
            <a:ext cx="57356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columns with a low cardinality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some business analytics problem</a:t>
            </a:r>
          </a:p>
        </p:txBody>
      </p:sp>
      <p:pic>
        <p:nvPicPr>
          <p:cNvPr id="7" name="Picture 6" descr="A table with names and numbers&#10;&#10;AI-generated content may be incorrect.">
            <a:extLst>
              <a:ext uri="{FF2B5EF4-FFF2-40B4-BE49-F238E27FC236}">
                <a16:creationId xmlns:a16="http://schemas.microsoft.com/office/drawing/2014/main" id="{0C7CFE65-2066-5D85-9279-333759EB0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117" y="3194756"/>
            <a:ext cx="5365579" cy="347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7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B61D-98A7-A4D7-05DD-270120DA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CEB52CA-98C2-9E6A-A8AF-4DEF16108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338282"/>
            <a:ext cx="5431052" cy="2181435"/>
          </a:xfrm>
        </p:spPr>
      </p:pic>
      <p:pic>
        <p:nvPicPr>
          <p:cNvPr id="7" name="Picture 6" descr="A diagram of a data flow&#10;&#10;Description automatically generated">
            <a:extLst>
              <a:ext uri="{FF2B5EF4-FFF2-40B4-BE49-F238E27FC236}">
                <a16:creationId xmlns:a16="http://schemas.microsoft.com/office/drawing/2014/main" id="{2288F1EC-0239-E734-401E-4620E327D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245" y="1879322"/>
            <a:ext cx="6688644" cy="35259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AF87B1-E6DC-13EA-14E8-D7E9B8B89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44484"/>
            <a:ext cx="10217375" cy="46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48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B174-F427-F188-7019-3817D88E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US" dirty="0"/>
          </a:p>
        </p:txBody>
      </p:sp>
      <p:pic>
        <p:nvPicPr>
          <p:cNvPr id="4" name="Picture 3" descr="A diagram of a data object&#10;&#10;AI-generated content may be incorrect.">
            <a:extLst>
              <a:ext uri="{FF2B5EF4-FFF2-40B4-BE49-F238E27FC236}">
                <a16:creationId xmlns:a16="http://schemas.microsoft.com/office/drawing/2014/main" id="{8A8C4B14-A0E4-73C4-44DA-8C9215BF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87" y="1418772"/>
            <a:ext cx="9079225" cy="507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81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268FDD-15BF-E8BD-BED8-DA74176F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US" dirty="0"/>
          </a:p>
        </p:txBody>
      </p:sp>
      <p:pic>
        <p:nvPicPr>
          <p:cNvPr id="3" name="Picture 2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1E690671-2442-291E-996E-BF75B733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1036238"/>
            <a:ext cx="5448300" cy="2933700"/>
          </a:xfrm>
          <a:prstGeom prst="rect">
            <a:avLst/>
          </a:prstGeom>
        </p:spPr>
      </p:pic>
      <p:pic>
        <p:nvPicPr>
          <p:cNvPr id="7" name="Picture 6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574DA62A-4DDF-C80B-6963-F28E3BA47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737" y="3969938"/>
            <a:ext cx="9780805" cy="1440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B4C735-A6D2-817B-438A-367C38DED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736" y="5545526"/>
            <a:ext cx="9780805" cy="91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1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3186</TotalTime>
  <Words>218</Words>
  <Application>Microsoft Macintosh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Tutorial Week5</vt:lpstr>
      <vt:lpstr>Question 1</vt:lpstr>
      <vt:lpstr>Hash Index</vt:lpstr>
      <vt:lpstr>B tree / B+ tree</vt:lpstr>
      <vt:lpstr>Types of Index </vt:lpstr>
      <vt:lpstr>Review multiple indexes</vt:lpstr>
      <vt:lpstr>Quadtree</vt:lpstr>
      <vt:lpstr>Question 2</vt:lpstr>
      <vt:lpstr>Question 2</vt:lpstr>
      <vt:lpstr>Question 2</vt:lpstr>
      <vt:lpstr>Question 3</vt:lpstr>
      <vt:lpstr>Bitmap index</vt:lpstr>
      <vt:lpstr>Question 4</vt:lpstr>
      <vt:lpstr>Question 5</vt:lpstr>
      <vt:lpstr>Question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14</cp:revision>
  <dcterms:created xsi:type="dcterms:W3CDTF">2024-08-20T08:08:41Z</dcterms:created>
  <dcterms:modified xsi:type="dcterms:W3CDTF">2026-03-31T05:34:28Z</dcterms:modified>
</cp:coreProperties>
</file>